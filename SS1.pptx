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Heavy" charset="1" panose="00000A00000000000000"/>
      <p:regular r:id="rId17"/>
    </p:embeddedFont>
    <p:embeddedFont>
      <p:font typeface="Poppins" charset="1" panose="00000500000000000000"/>
      <p:regular r:id="rId18"/>
    </p:embeddedFont>
    <p:embeddedFont>
      <p:font typeface="TT Norms Bold" charset="1" panose="02000803030000020004"/>
      <p:regular r:id="rId19"/>
    </p:embeddedFont>
    <p:embeddedFont>
      <p:font typeface="Telegraf Bold" charset="1" panose="00000800000000000000"/>
      <p:regular r:id="rId20"/>
    </p:embeddedFont>
    <p:embeddedFont>
      <p:font typeface="Telegraf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489919"/>
            <a:ext cx="17926946" cy="217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23"/>
              </a:lnSpc>
            </a:pPr>
            <a:r>
              <a:rPr lang="en-US" b="true" sz="11945">
                <a:solidFill>
                  <a:srgbClr val="1E3A8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Spend Smart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6857" y="6322068"/>
            <a:ext cx="13254286" cy="183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sz="3429" spc="864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SMART FINANCIAL MANAGEMENT WITH REAL-TIME ANALYTICS</a:t>
            </a:r>
          </a:p>
          <a:p>
            <a:pPr algn="ctr">
              <a:lnSpc>
                <a:spcPts val="480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6882" y="1527646"/>
            <a:ext cx="9134236" cy="131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7"/>
              </a:lnSpc>
            </a:pPr>
            <a:r>
              <a:rPr lang="en-US" b="true" sz="11020">
                <a:solidFill>
                  <a:srgbClr val="1A1A1A"/>
                </a:solidFill>
                <a:latin typeface="TT Norms Bold"/>
                <a:ea typeface="TT Norms Bold"/>
                <a:cs typeface="TT Norms Bold"/>
                <a:sym typeface="TT Norms Bold"/>
              </a:rPr>
              <a:t>Our Team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298008" y="3913980"/>
            <a:ext cx="7691984" cy="4381919"/>
            <a:chOff x="0" y="0"/>
            <a:chExt cx="10255978" cy="584255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883125" cy="5601580"/>
              <a:chOff x="0" y="0"/>
              <a:chExt cx="1059243" cy="121508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59243" cy="1215089"/>
              </a:xfrm>
              <a:custGeom>
                <a:avLst/>
                <a:gdLst/>
                <a:ahLst/>
                <a:cxnLst/>
                <a:rect r="r" b="b" t="t" l="l"/>
                <a:pathLst>
                  <a:path h="1215089" w="1059243">
                    <a:moveTo>
                      <a:pt x="128949" y="0"/>
                    </a:moveTo>
                    <a:lnTo>
                      <a:pt x="930293" y="0"/>
                    </a:lnTo>
                    <a:cubicBezTo>
                      <a:pt x="1001510" y="0"/>
                      <a:pt x="1059243" y="57733"/>
                      <a:pt x="1059243" y="128949"/>
                    </a:cubicBezTo>
                    <a:lnTo>
                      <a:pt x="1059243" y="1086140"/>
                    </a:lnTo>
                    <a:cubicBezTo>
                      <a:pt x="1059243" y="1157357"/>
                      <a:pt x="1001510" y="1215089"/>
                      <a:pt x="930293" y="1215089"/>
                    </a:cubicBezTo>
                    <a:lnTo>
                      <a:pt x="128949" y="1215089"/>
                    </a:lnTo>
                    <a:cubicBezTo>
                      <a:pt x="57733" y="1215089"/>
                      <a:pt x="0" y="1157357"/>
                      <a:pt x="0" y="1086140"/>
                    </a:cubicBezTo>
                    <a:lnTo>
                      <a:pt x="0" y="128949"/>
                    </a:lnTo>
                    <a:cubicBezTo>
                      <a:pt x="0" y="57733"/>
                      <a:pt x="57733" y="0"/>
                      <a:pt x="128949" y="0"/>
                    </a:cubicBezTo>
                    <a:close/>
                  </a:path>
                </a:pathLst>
              </a:custGeom>
              <a:solidFill>
                <a:srgbClr val="042698">
                  <a:alpha val="80784"/>
                </a:srgbClr>
              </a:solidFill>
              <a:ln w="38100" cap="rnd">
                <a:solidFill>
                  <a:srgbClr val="FFFFFF">
                    <a:alpha val="80784"/>
                  </a:srgbClr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59243" cy="12531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4512898"/>
              <a:ext cx="4883125" cy="1329661"/>
              <a:chOff x="0" y="0"/>
              <a:chExt cx="1059243" cy="28842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59243" cy="288429"/>
              </a:xfrm>
              <a:custGeom>
                <a:avLst/>
                <a:gdLst/>
                <a:ahLst/>
                <a:cxnLst/>
                <a:rect r="r" b="b" t="t" l="l"/>
                <a:pathLst>
                  <a:path h="288429" w="1059243">
                    <a:moveTo>
                      <a:pt x="128949" y="0"/>
                    </a:moveTo>
                    <a:lnTo>
                      <a:pt x="930293" y="0"/>
                    </a:lnTo>
                    <a:cubicBezTo>
                      <a:pt x="1001510" y="0"/>
                      <a:pt x="1059243" y="57733"/>
                      <a:pt x="1059243" y="128949"/>
                    </a:cubicBezTo>
                    <a:lnTo>
                      <a:pt x="1059243" y="159479"/>
                    </a:lnTo>
                    <a:cubicBezTo>
                      <a:pt x="1059243" y="230696"/>
                      <a:pt x="1001510" y="288429"/>
                      <a:pt x="930293" y="288429"/>
                    </a:cubicBezTo>
                    <a:lnTo>
                      <a:pt x="128949" y="288429"/>
                    </a:lnTo>
                    <a:cubicBezTo>
                      <a:pt x="57733" y="288429"/>
                      <a:pt x="0" y="230696"/>
                      <a:pt x="0" y="159479"/>
                    </a:cubicBezTo>
                    <a:lnTo>
                      <a:pt x="0" y="128949"/>
                    </a:lnTo>
                    <a:cubicBezTo>
                      <a:pt x="0" y="57733"/>
                      <a:pt x="57733" y="0"/>
                      <a:pt x="128949" y="0"/>
                    </a:cubicBezTo>
                    <a:close/>
                  </a:path>
                </a:pathLst>
              </a:custGeom>
              <a:solidFill>
                <a:srgbClr val="042698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59243" cy="3265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372853" y="0"/>
              <a:ext cx="4883125" cy="5601580"/>
              <a:chOff x="0" y="0"/>
              <a:chExt cx="1059243" cy="121508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59243" cy="1215089"/>
              </a:xfrm>
              <a:custGeom>
                <a:avLst/>
                <a:gdLst/>
                <a:ahLst/>
                <a:cxnLst/>
                <a:rect r="r" b="b" t="t" l="l"/>
                <a:pathLst>
                  <a:path h="1215089" w="1059243">
                    <a:moveTo>
                      <a:pt x="128949" y="0"/>
                    </a:moveTo>
                    <a:lnTo>
                      <a:pt x="930293" y="0"/>
                    </a:lnTo>
                    <a:cubicBezTo>
                      <a:pt x="1001510" y="0"/>
                      <a:pt x="1059243" y="57733"/>
                      <a:pt x="1059243" y="128949"/>
                    </a:cubicBezTo>
                    <a:lnTo>
                      <a:pt x="1059243" y="1086140"/>
                    </a:lnTo>
                    <a:cubicBezTo>
                      <a:pt x="1059243" y="1157357"/>
                      <a:pt x="1001510" y="1215089"/>
                      <a:pt x="930293" y="1215089"/>
                    </a:cubicBezTo>
                    <a:lnTo>
                      <a:pt x="128949" y="1215089"/>
                    </a:lnTo>
                    <a:cubicBezTo>
                      <a:pt x="57733" y="1215089"/>
                      <a:pt x="0" y="1157357"/>
                      <a:pt x="0" y="1086140"/>
                    </a:cubicBezTo>
                    <a:lnTo>
                      <a:pt x="0" y="128949"/>
                    </a:lnTo>
                    <a:cubicBezTo>
                      <a:pt x="0" y="57733"/>
                      <a:pt x="57733" y="0"/>
                      <a:pt x="128949" y="0"/>
                    </a:cubicBezTo>
                    <a:close/>
                  </a:path>
                </a:pathLst>
              </a:custGeom>
              <a:solidFill>
                <a:srgbClr val="042698">
                  <a:alpha val="80784"/>
                </a:srgbClr>
              </a:solidFill>
              <a:ln w="38100" cap="rnd">
                <a:solidFill>
                  <a:srgbClr val="FFFFFF">
                    <a:alpha val="80784"/>
                  </a:srgbClr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59243" cy="12531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372853" y="4512898"/>
              <a:ext cx="4883125" cy="1329661"/>
              <a:chOff x="0" y="0"/>
              <a:chExt cx="1059243" cy="28842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59243" cy="288429"/>
              </a:xfrm>
              <a:custGeom>
                <a:avLst/>
                <a:gdLst/>
                <a:ahLst/>
                <a:cxnLst/>
                <a:rect r="r" b="b" t="t" l="l"/>
                <a:pathLst>
                  <a:path h="288429" w="1059243">
                    <a:moveTo>
                      <a:pt x="128949" y="0"/>
                    </a:moveTo>
                    <a:lnTo>
                      <a:pt x="930293" y="0"/>
                    </a:lnTo>
                    <a:cubicBezTo>
                      <a:pt x="1001510" y="0"/>
                      <a:pt x="1059243" y="57733"/>
                      <a:pt x="1059243" y="128949"/>
                    </a:cubicBezTo>
                    <a:lnTo>
                      <a:pt x="1059243" y="159479"/>
                    </a:lnTo>
                    <a:cubicBezTo>
                      <a:pt x="1059243" y="230696"/>
                      <a:pt x="1001510" y="288429"/>
                      <a:pt x="930293" y="288429"/>
                    </a:cubicBezTo>
                    <a:lnTo>
                      <a:pt x="128949" y="288429"/>
                    </a:lnTo>
                    <a:cubicBezTo>
                      <a:pt x="57733" y="288429"/>
                      <a:pt x="0" y="230696"/>
                      <a:pt x="0" y="159479"/>
                    </a:cubicBezTo>
                    <a:lnTo>
                      <a:pt x="0" y="128949"/>
                    </a:lnTo>
                    <a:cubicBezTo>
                      <a:pt x="0" y="57733"/>
                      <a:pt x="57733" y="0"/>
                      <a:pt x="128949" y="0"/>
                    </a:cubicBezTo>
                    <a:close/>
                  </a:path>
                </a:pathLst>
              </a:custGeom>
              <a:solidFill>
                <a:srgbClr val="042698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59243" cy="3265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6195295" y="1298943"/>
              <a:ext cx="3238242" cy="3213955"/>
            </a:xfrm>
            <a:custGeom>
              <a:avLst/>
              <a:gdLst/>
              <a:ahLst/>
              <a:cxnLst/>
              <a:rect r="r" b="b" t="t" l="l"/>
              <a:pathLst>
                <a:path h="3213955" w="3238242">
                  <a:moveTo>
                    <a:pt x="0" y="0"/>
                  </a:moveTo>
                  <a:lnTo>
                    <a:pt x="3238242" y="0"/>
                  </a:lnTo>
                  <a:lnTo>
                    <a:pt x="3238242" y="3213955"/>
                  </a:lnTo>
                  <a:lnTo>
                    <a:pt x="0" y="3213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836679" y="1298943"/>
              <a:ext cx="3036552" cy="3213955"/>
            </a:xfrm>
            <a:custGeom>
              <a:avLst/>
              <a:gdLst/>
              <a:ahLst/>
              <a:cxnLst/>
              <a:rect r="r" b="b" t="t" l="l"/>
              <a:pathLst>
                <a:path h="3213955" w="3036552">
                  <a:moveTo>
                    <a:pt x="0" y="0"/>
                  </a:moveTo>
                  <a:lnTo>
                    <a:pt x="3036552" y="0"/>
                  </a:lnTo>
                  <a:lnTo>
                    <a:pt x="3036552" y="3213955"/>
                  </a:lnTo>
                  <a:lnTo>
                    <a:pt x="0" y="3213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29421" y="4725498"/>
              <a:ext cx="4024283" cy="907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1"/>
                </a:lnSpc>
              </a:pPr>
              <a:r>
                <a:rPr lang="en-US" b="true" sz="2786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Mohammad Mustafa Shafaq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802274" y="4976275"/>
              <a:ext cx="4024283" cy="479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1"/>
                </a:lnSpc>
              </a:pPr>
              <a:r>
                <a:rPr lang="en-US" b="true" sz="2786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Nafia Nowrin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9463" y="3747086"/>
            <a:ext cx="5066791" cy="5038249"/>
            <a:chOff x="0" y="0"/>
            <a:chExt cx="1334464" cy="1326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464" cy="1326946"/>
            </a:xfrm>
            <a:custGeom>
              <a:avLst/>
              <a:gdLst/>
              <a:ahLst/>
              <a:cxnLst/>
              <a:rect r="r" b="b" t="t" l="l"/>
              <a:pathLst>
                <a:path h="132694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249020"/>
                  </a:lnTo>
                  <a:cubicBezTo>
                    <a:pt x="1334464" y="1292057"/>
                    <a:pt x="1299575" y="1326946"/>
                    <a:pt x="1256537" y="1326946"/>
                  </a:cubicBezTo>
                  <a:lnTo>
                    <a:pt x="77927" y="1326946"/>
                  </a:lnTo>
                  <a:cubicBezTo>
                    <a:pt x="57259" y="1326946"/>
                    <a:pt x="37438" y="1318736"/>
                    <a:pt x="22824" y="1304122"/>
                  </a:cubicBezTo>
                  <a:cubicBezTo>
                    <a:pt x="8210" y="1289508"/>
                    <a:pt x="0" y="1269687"/>
                    <a:pt x="0" y="124902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4464" cy="1365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17712" y="3747086"/>
            <a:ext cx="5066791" cy="5038249"/>
            <a:chOff x="0" y="0"/>
            <a:chExt cx="1334464" cy="13269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464" cy="1326946"/>
            </a:xfrm>
            <a:custGeom>
              <a:avLst/>
              <a:gdLst/>
              <a:ahLst/>
              <a:cxnLst/>
              <a:rect r="r" b="b" t="t" l="l"/>
              <a:pathLst>
                <a:path h="132694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249020"/>
                  </a:lnTo>
                  <a:cubicBezTo>
                    <a:pt x="1334464" y="1292057"/>
                    <a:pt x="1299575" y="1326946"/>
                    <a:pt x="1256537" y="1326946"/>
                  </a:cubicBezTo>
                  <a:lnTo>
                    <a:pt x="77927" y="1326946"/>
                  </a:lnTo>
                  <a:cubicBezTo>
                    <a:pt x="57259" y="1326946"/>
                    <a:pt x="37438" y="1318736"/>
                    <a:pt x="22824" y="1304122"/>
                  </a:cubicBezTo>
                  <a:cubicBezTo>
                    <a:pt x="8210" y="1289508"/>
                    <a:pt x="0" y="1269687"/>
                    <a:pt x="0" y="124902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4464" cy="1365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2509" y="3747086"/>
            <a:ext cx="5066791" cy="5038249"/>
            <a:chOff x="0" y="0"/>
            <a:chExt cx="1334464" cy="1326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4464" cy="1326946"/>
            </a:xfrm>
            <a:custGeom>
              <a:avLst/>
              <a:gdLst/>
              <a:ahLst/>
              <a:cxnLst/>
              <a:rect r="r" b="b" t="t" l="l"/>
              <a:pathLst>
                <a:path h="132694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249020"/>
                  </a:lnTo>
                  <a:cubicBezTo>
                    <a:pt x="1334464" y="1292057"/>
                    <a:pt x="1299575" y="1326946"/>
                    <a:pt x="1256537" y="1326946"/>
                  </a:cubicBezTo>
                  <a:lnTo>
                    <a:pt x="77927" y="1326946"/>
                  </a:lnTo>
                  <a:cubicBezTo>
                    <a:pt x="57259" y="1326946"/>
                    <a:pt x="37438" y="1318736"/>
                    <a:pt x="22824" y="1304122"/>
                  </a:cubicBezTo>
                  <a:cubicBezTo>
                    <a:pt x="8210" y="1289508"/>
                    <a:pt x="0" y="1269687"/>
                    <a:pt x="0" y="124902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4464" cy="1365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19098" y="2805713"/>
            <a:ext cx="1887522" cy="1882744"/>
            <a:chOff x="0" y="0"/>
            <a:chExt cx="406400" cy="405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01002" y="2805713"/>
            <a:ext cx="1887522" cy="1882744"/>
            <a:chOff x="0" y="0"/>
            <a:chExt cx="406400" cy="4053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81828" y="2805713"/>
            <a:ext cx="1887522" cy="1882744"/>
            <a:chOff x="0" y="0"/>
            <a:chExt cx="406400" cy="405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16949" y="633412"/>
            <a:ext cx="445656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b="true" sz="639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</a:t>
            </a:r>
            <a:r>
              <a:rPr lang="en-US" b="true" sz="6399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 Idea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8399" y="5962978"/>
            <a:ext cx="365901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implifying personal expense tracking with an intuitive interface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4872" y="5962978"/>
            <a:ext cx="365901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Real-time data visualization and insights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96080" y="5962978"/>
            <a:ext cx="365901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Accessible, client-side solution using modern web technologies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91334" y="3256548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73238" y="3256548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54064" y="3256548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91308" y="2600560"/>
            <a:ext cx="7833582" cy="1862603"/>
            <a:chOff x="0" y="0"/>
            <a:chExt cx="10444775" cy="24834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395687" y="0"/>
              <a:ext cx="9049088" cy="2483471"/>
              <a:chOff x="0" y="0"/>
              <a:chExt cx="1862979" cy="51128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862979" cy="511284"/>
              </a:xfrm>
              <a:custGeom>
                <a:avLst/>
                <a:gdLst/>
                <a:ahLst/>
                <a:cxnLst/>
                <a:rect r="r" b="b" t="t" l="l"/>
                <a:pathLst>
                  <a:path h="511284" w="1862979">
                    <a:moveTo>
                      <a:pt x="58177" y="0"/>
                    </a:moveTo>
                    <a:lnTo>
                      <a:pt x="1804802" y="0"/>
                    </a:lnTo>
                    <a:cubicBezTo>
                      <a:pt x="1836932" y="0"/>
                      <a:pt x="1862979" y="26047"/>
                      <a:pt x="1862979" y="58177"/>
                    </a:cubicBezTo>
                    <a:lnTo>
                      <a:pt x="1862979" y="453107"/>
                    </a:lnTo>
                    <a:cubicBezTo>
                      <a:pt x="1862979" y="485237"/>
                      <a:pt x="1836932" y="511284"/>
                      <a:pt x="1804802" y="511284"/>
                    </a:cubicBezTo>
                    <a:lnTo>
                      <a:pt x="58177" y="511284"/>
                    </a:lnTo>
                    <a:cubicBezTo>
                      <a:pt x="26047" y="511284"/>
                      <a:pt x="0" y="485237"/>
                      <a:pt x="0" y="453107"/>
                    </a:cubicBezTo>
                    <a:lnTo>
                      <a:pt x="0" y="58177"/>
                    </a:lnTo>
                    <a:cubicBezTo>
                      <a:pt x="0" y="26047"/>
                      <a:pt x="26047" y="0"/>
                      <a:pt x="58177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862979" cy="5493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268931"/>
              <a:ext cx="1950547" cy="1945609"/>
              <a:chOff x="0" y="0"/>
              <a:chExt cx="406400" cy="4053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6400" cy="405371"/>
              </a:xfrm>
              <a:custGeom>
                <a:avLst/>
                <a:gdLst/>
                <a:ahLst/>
                <a:cxnLst/>
                <a:rect r="r" b="b" t="t" l="l"/>
                <a:pathLst>
                  <a:path h="405371" w="406400">
                    <a:moveTo>
                      <a:pt x="202686" y="0"/>
                    </a:moveTo>
                    <a:lnTo>
                      <a:pt x="203714" y="0"/>
                    </a:lnTo>
                    <a:cubicBezTo>
                      <a:pt x="257470" y="0"/>
                      <a:pt x="309024" y="21354"/>
                      <a:pt x="347035" y="59365"/>
                    </a:cubicBezTo>
                    <a:cubicBezTo>
                      <a:pt x="385046" y="97376"/>
                      <a:pt x="406400" y="148930"/>
                      <a:pt x="406400" y="202686"/>
                    </a:cubicBezTo>
                    <a:lnTo>
                      <a:pt x="406400" y="202686"/>
                    </a:lnTo>
                    <a:cubicBezTo>
                      <a:pt x="406400" y="314626"/>
                      <a:pt x="315655" y="405371"/>
                      <a:pt x="203714" y="405371"/>
                    </a:cubicBezTo>
                    <a:lnTo>
                      <a:pt x="202686" y="405371"/>
                    </a:lnTo>
                    <a:cubicBezTo>
                      <a:pt x="148930" y="405371"/>
                      <a:pt x="97376" y="384017"/>
                      <a:pt x="59365" y="346006"/>
                    </a:cubicBezTo>
                    <a:cubicBezTo>
                      <a:pt x="21354" y="307995"/>
                      <a:pt x="0" y="256441"/>
                      <a:pt x="0" y="202686"/>
                    </a:cubicBezTo>
                    <a:lnTo>
                      <a:pt x="0" y="202686"/>
                    </a:lnTo>
                    <a:cubicBezTo>
                      <a:pt x="0" y="148930"/>
                      <a:pt x="21354" y="97376"/>
                      <a:pt x="59365" y="59365"/>
                    </a:cubicBezTo>
                    <a:cubicBezTo>
                      <a:pt x="97376" y="21354"/>
                      <a:pt x="148930" y="0"/>
                      <a:pt x="202686" y="0"/>
                    </a:cubicBezTo>
                    <a:close/>
                  </a:path>
                </a:pathLst>
              </a:custGeom>
              <a:solidFill>
                <a:srgbClr val="04269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06400" cy="443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77987" y="746570"/>
              <a:ext cx="1594573" cy="933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08"/>
                </a:lnSpc>
              </a:pPr>
              <a:r>
                <a:rPr lang="en-US" b="true" sz="4340">
                  <a:solidFill>
                    <a:srgbClr val="F5F5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572196" y="644453"/>
              <a:ext cx="7633185" cy="1127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</a:pPr>
              <a:r>
                <a:rPr lang="en-US" sz="2414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A responsive expense tracking dashboard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6677" y="2889838"/>
            <a:ext cx="7704282" cy="5398847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8691308" y="4904673"/>
            <a:ext cx="7833582" cy="1862603"/>
            <a:chOff x="0" y="0"/>
            <a:chExt cx="10444775" cy="24834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1395687" y="0"/>
              <a:ext cx="9049088" cy="2483471"/>
              <a:chOff x="0" y="0"/>
              <a:chExt cx="1862979" cy="51128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62979" cy="511284"/>
              </a:xfrm>
              <a:custGeom>
                <a:avLst/>
                <a:gdLst/>
                <a:ahLst/>
                <a:cxnLst/>
                <a:rect r="r" b="b" t="t" l="l"/>
                <a:pathLst>
                  <a:path h="511284" w="1862979">
                    <a:moveTo>
                      <a:pt x="58177" y="0"/>
                    </a:moveTo>
                    <a:lnTo>
                      <a:pt x="1804802" y="0"/>
                    </a:lnTo>
                    <a:cubicBezTo>
                      <a:pt x="1836932" y="0"/>
                      <a:pt x="1862979" y="26047"/>
                      <a:pt x="1862979" y="58177"/>
                    </a:cubicBezTo>
                    <a:lnTo>
                      <a:pt x="1862979" y="453107"/>
                    </a:lnTo>
                    <a:cubicBezTo>
                      <a:pt x="1862979" y="485237"/>
                      <a:pt x="1836932" y="511284"/>
                      <a:pt x="1804802" y="511284"/>
                    </a:cubicBezTo>
                    <a:lnTo>
                      <a:pt x="58177" y="511284"/>
                    </a:lnTo>
                    <a:cubicBezTo>
                      <a:pt x="26047" y="511284"/>
                      <a:pt x="0" y="485237"/>
                      <a:pt x="0" y="453107"/>
                    </a:cubicBezTo>
                    <a:lnTo>
                      <a:pt x="0" y="58177"/>
                    </a:lnTo>
                    <a:cubicBezTo>
                      <a:pt x="0" y="26047"/>
                      <a:pt x="26047" y="0"/>
                      <a:pt x="58177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62979" cy="5493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68931"/>
              <a:ext cx="1950547" cy="1945609"/>
              <a:chOff x="0" y="0"/>
              <a:chExt cx="406400" cy="40537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405371"/>
              </a:xfrm>
              <a:custGeom>
                <a:avLst/>
                <a:gdLst/>
                <a:ahLst/>
                <a:cxnLst/>
                <a:rect r="r" b="b" t="t" l="l"/>
                <a:pathLst>
                  <a:path h="405371" w="406400">
                    <a:moveTo>
                      <a:pt x="202686" y="0"/>
                    </a:moveTo>
                    <a:lnTo>
                      <a:pt x="203714" y="0"/>
                    </a:lnTo>
                    <a:cubicBezTo>
                      <a:pt x="257470" y="0"/>
                      <a:pt x="309024" y="21354"/>
                      <a:pt x="347035" y="59365"/>
                    </a:cubicBezTo>
                    <a:cubicBezTo>
                      <a:pt x="385046" y="97376"/>
                      <a:pt x="406400" y="148930"/>
                      <a:pt x="406400" y="202686"/>
                    </a:cubicBezTo>
                    <a:lnTo>
                      <a:pt x="406400" y="202686"/>
                    </a:lnTo>
                    <a:cubicBezTo>
                      <a:pt x="406400" y="314626"/>
                      <a:pt x="315655" y="405371"/>
                      <a:pt x="203714" y="405371"/>
                    </a:cubicBezTo>
                    <a:lnTo>
                      <a:pt x="202686" y="405371"/>
                    </a:lnTo>
                    <a:cubicBezTo>
                      <a:pt x="148930" y="405371"/>
                      <a:pt x="97376" y="384017"/>
                      <a:pt x="59365" y="346006"/>
                    </a:cubicBezTo>
                    <a:cubicBezTo>
                      <a:pt x="21354" y="307995"/>
                      <a:pt x="0" y="256441"/>
                      <a:pt x="0" y="202686"/>
                    </a:cubicBezTo>
                    <a:lnTo>
                      <a:pt x="0" y="202686"/>
                    </a:lnTo>
                    <a:cubicBezTo>
                      <a:pt x="0" y="148930"/>
                      <a:pt x="21354" y="97376"/>
                      <a:pt x="59365" y="59365"/>
                    </a:cubicBezTo>
                    <a:cubicBezTo>
                      <a:pt x="97376" y="21354"/>
                      <a:pt x="148930" y="0"/>
                      <a:pt x="202686" y="0"/>
                    </a:cubicBezTo>
                    <a:close/>
                  </a:path>
                </a:pathLst>
              </a:custGeom>
              <a:solidFill>
                <a:srgbClr val="04269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06400" cy="443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77987" y="746570"/>
              <a:ext cx="1594573" cy="933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08"/>
                </a:lnSpc>
              </a:pPr>
              <a:r>
                <a:rPr lang="en-US" b="true" sz="4340">
                  <a:solidFill>
                    <a:srgbClr val="F5F5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72196" y="644453"/>
              <a:ext cx="7633185" cy="1127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</a:pPr>
              <a:r>
                <a:rPr lang="en-US" sz="2414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Interactive charts for spending analysis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849024" y="785812"/>
            <a:ext cx="1058995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b="true" sz="639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Sp</a:t>
            </a:r>
            <a:r>
              <a:rPr lang="en-US" b="true" sz="6399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endSmart at a Glance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691308" y="7205426"/>
            <a:ext cx="7833582" cy="1862603"/>
            <a:chOff x="0" y="0"/>
            <a:chExt cx="10444775" cy="248347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395687" y="0"/>
              <a:ext cx="9049088" cy="2483471"/>
              <a:chOff x="0" y="0"/>
              <a:chExt cx="1862979" cy="51128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62979" cy="511284"/>
              </a:xfrm>
              <a:custGeom>
                <a:avLst/>
                <a:gdLst/>
                <a:ahLst/>
                <a:cxnLst/>
                <a:rect r="r" b="b" t="t" l="l"/>
                <a:pathLst>
                  <a:path h="511284" w="1862979">
                    <a:moveTo>
                      <a:pt x="58177" y="0"/>
                    </a:moveTo>
                    <a:lnTo>
                      <a:pt x="1804802" y="0"/>
                    </a:lnTo>
                    <a:cubicBezTo>
                      <a:pt x="1836932" y="0"/>
                      <a:pt x="1862979" y="26047"/>
                      <a:pt x="1862979" y="58177"/>
                    </a:cubicBezTo>
                    <a:lnTo>
                      <a:pt x="1862979" y="453107"/>
                    </a:lnTo>
                    <a:cubicBezTo>
                      <a:pt x="1862979" y="485237"/>
                      <a:pt x="1836932" y="511284"/>
                      <a:pt x="1804802" y="511284"/>
                    </a:cubicBezTo>
                    <a:lnTo>
                      <a:pt x="58177" y="511284"/>
                    </a:lnTo>
                    <a:cubicBezTo>
                      <a:pt x="26047" y="511284"/>
                      <a:pt x="0" y="485237"/>
                      <a:pt x="0" y="453107"/>
                    </a:cubicBezTo>
                    <a:lnTo>
                      <a:pt x="0" y="58177"/>
                    </a:lnTo>
                    <a:cubicBezTo>
                      <a:pt x="0" y="26047"/>
                      <a:pt x="26047" y="0"/>
                      <a:pt x="58177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862979" cy="5493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268931"/>
              <a:ext cx="1950547" cy="1945609"/>
              <a:chOff x="0" y="0"/>
              <a:chExt cx="406400" cy="40537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405371"/>
              </a:xfrm>
              <a:custGeom>
                <a:avLst/>
                <a:gdLst/>
                <a:ahLst/>
                <a:cxnLst/>
                <a:rect r="r" b="b" t="t" l="l"/>
                <a:pathLst>
                  <a:path h="405371" w="406400">
                    <a:moveTo>
                      <a:pt x="202686" y="0"/>
                    </a:moveTo>
                    <a:lnTo>
                      <a:pt x="203714" y="0"/>
                    </a:lnTo>
                    <a:cubicBezTo>
                      <a:pt x="257470" y="0"/>
                      <a:pt x="309024" y="21354"/>
                      <a:pt x="347035" y="59365"/>
                    </a:cubicBezTo>
                    <a:cubicBezTo>
                      <a:pt x="385046" y="97376"/>
                      <a:pt x="406400" y="148930"/>
                      <a:pt x="406400" y="202686"/>
                    </a:cubicBezTo>
                    <a:lnTo>
                      <a:pt x="406400" y="202686"/>
                    </a:lnTo>
                    <a:cubicBezTo>
                      <a:pt x="406400" y="314626"/>
                      <a:pt x="315655" y="405371"/>
                      <a:pt x="203714" y="405371"/>
                    </a:cubicBezTo>
                    <a:lnTo>
                      <a:pt x="202686" y="405371"/>
                    </a:lnTo>
                    <a:cubicBezTo>
                      <a:pt x="148930" y="405371"/>
                      <a:pt x="97376" y="384017"/>
                      <a:pt x="59365" y="346006"/>
                    </a:cubicBezTo>
                    <a:cubicBezTo>
                      <a:pt x="21354" y="307995"/>
                      <a:pt x="0" y="256441"/>
                      <a:pt x="0" y="202686"/>
                    </a:cubicBezTo>
                    <a:lnTo>
                      <a:pt x="0" y="202686"/>
                    </a:lnTo>
                    <a:cubicBezTo>
                      <a:pt x="0" y="148930"/>
                      <a:pt x="21354" y="97376"/>
                      <a:pt x="59365" y="59365"/>
                    </a:cubicBezTo>
                    <a:cubicBezTo>
                      <a:pt x="97376" y="21354"/>
                      <a:pt x="148930" y="0"/>
                      <a:pt x="202686" y="0"/>
                    </a:cubicBezTo>
                    <a:close/>
                  </a:path>
                </a:pathLst>
              </a:custGeom>
              <a:solidFill>
                <a:srgbClr val="04269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06400" cy="443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77987" y="746570"/>
              <a:ext cx="1594573" cy="933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208"/>
                </a:lnSpc>
              </a:pPr>
              <a:r>
                <a:rPr lang="en-US" b="true" sz="4340">
                  <a:solidFill>
                    <a:srgbClr val="F5F5F5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03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572196" y="644453"/>
              <a:ext cx="7633185" cy="1127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0"/>
                </a:lnSpc>
              </a:pPr>
              <a:r>
                <a:rPr lang="en-US" sz="2414">
                  <a:solidFill>
                    <a:srgbClr val="1A1A1A"/>
                  </a:solidFill>
                  <a:latin typeface="Poppins"/>
                  <a:ea typeface="Poppins"/>
                  <a:cs typeface="Poppins"/>
                  <a:sym typeface="Poppins"/>
                </a:rPr>
                <a:t>Add, edit, and manage expenses seamlessly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09600" y="771325"/>
            <a:ext cx="5219121" cy="4129217"/>
            <a:chOff x="0" y="0"/>
            <a:chExt cx="1432647" cy="11334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8271" y="771325"/>
            <a:ext cx="10924017" cy="4129217"/>
            <a:chOff x="0" y="0"/>
            <a:chExt cx="2998640" cy="1133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8640" cy="1133469"/>
            </a:xfrm>
            <a:custGeom>
              <a:avLst/>
              <a:gdLst/>
              <a:ahLst/>
              <a:cxnLst/>
              <a:rect r="r" b="b" t="t" l="l"/>
              <a:pathLst>
                <a:path h="1133469" w="2998640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09600" y="5383810"/>
            <a:ext cx="5219121" cy="4129217"/>
            <a:chOff x="0" y="0"/>
            <a:chExt cx="1432647" cy="1133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03167" y="5383810"/>
            <a:ext cx="5219121" cy="4129217"/>
            <a:chOff x="0" y="0"/>
            <a:chExt cx="1432647" cy="1133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8271" y="5383810"/>
            <a:ext cx="5219121" cy="4129217"/>
            <a:chOff x="0" y="0"/>
            <a:chExt cx="1432647" cy="11334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98271" y="1527833"/>
            <a:ext cx="10924017" cy="270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Key</a:t>
            </a:r>
          </a:p>
          <a:p>
            <a:pPr algn="ctr" marL="0" indent="0" lvl="0">
              <a:lnSpc>
                <a:spcPts val="9999"/>
              </a:lnSpc>
            </a:pPr>
            <a:r>
              <a:rPr lang="en-US" b="true" sz="9999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7184" y="1631846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0268" y="2769258"/>
            <a:ext cx="359778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responsive expense tracking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7184" y="6184494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20268" y="7096121"/>
            <a:ext cx="359778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Individuals wanting control over their finances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00751" y="6244331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855" y="6244331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13834" y="7155958"/>
            <a:ext cx="359778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Add, edit, and manage expenses seamlessly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08938" y="7155958"/>
            <a:ext cx="359778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Interactive charts for spending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3618178"/>
            <a:chOff x="0" y="0"/>
            <a:chExt cx="4274726" cy="952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952936"/>
            </a:xfrm>
            <a:custGeom>
              <a:avLst/>
              <a:gdLst/>
              <a:ahLst/>
              <a:cxnLst/>
              <a:rect r="r" b="b" t="t" l="l"/>
              <a:pathLst>
                <a:path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3761488" cy="4114800"/>
            <a:chOff x="0" y="0"/>
            <a:chExt cx="2025440" cy="2215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85071" y="5143500"/>
            <a:ext cx="3761488" cy="4114800"/>
            <a:chOff x="0" y="0"/>
            <a:chExt cx="2025440" cy="2215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41441" y="5143500"/>
            <a:ext cx="3761488" cy="4114800"/>
            <a:chOff x="0" y="0"/>
            <a:chExt cx="2025440" cy="2215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97812" y="5143500"/>
            <a:ext cx="3761488" cy="4114800"/>
            <a:chOff x="0" y="0"/>
            <a:chExt cx="2025440" cy="22156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01898" y="5729877"/>
            <a:ext cx="1015091" cy="939421"/>
          </a:xfrm>
          <a:custGeom>
            <a:avLst/>
            <a:gdLst/>
            <a:ahLst/>
            <a:cxnLst/>
            <a:rect r="r" b="b" t="t" l="l"/>
            <a:pathLst>
              <a:path h="939421" w="1015091">
                <a:moveTo>
                  <a:pt x="0" y="0"/>
                </a:moveTo>
                <a:lnTo>
                  <a:pt x="1015092" y="0"/>
                </a:lnTo>
                <a:lnTo>
                  <a:pt x="1015092" y="939421"/>
                </a:lnTo>
                <a:lnTo>
                  <a:pt x="0" y="939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42520" y="5696853"/>
            <a:ext cx="1138234" cy="1129127"/>
          </a:xfrm>
          <a:prstGeom prst="rect">
            <a:avLst/>
          </a:prstGeom>
        </p:spPr>
      </p:pic>
      <p:sp>
        <p:nvSpPr>
          <p:cNvPr name="Freeform 19" id="19"/>
          <p:cNvSpPr/>
          <p:nvPr/>
        </p:nvSpPr>
        <p:spPr>
          <a:xfrm flipH="false" flipV="false" rot="0">
            <a:off x="10718209" y="5791706"/>
            <a:ext cx="893304" cy="939421"/>
          </a:xfrm>
          <a:custGeom>
            <a:avLst/>
            <a:gdLst/>
            <a:ahLst/>
            <a:cxnLst/>
            <a:rect r="r" b="b" t="t" l="l"/>
            <a:pathLst>
              <a:path h="939421" w="893304">
                <a:moveTo>
                  <a:pt x="0" y="0"/>
                </a:moveTo>
                <a:lnTo>
                  <a:pt x="893304" y="0"/>
                </a:lnTo>
                <a:lnTo>
                  <a:pt x="893304" y="939421"/>
                </a:lnTo>
                <a:lnTo>
                  <a:pt x="0" y="939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960304" y="5791706"/>
            <a:ext cx="814734" cy="939421"/>
          </a:xfrm>
          <a:custGeom>
            <a:avLst/>
            <a:gdLst/>
            <a:ahLst/>
            <a:cxnLst/>
            <a:rect r="r" b="b" t="t" l="l"/>
            <a:pathLst>
              <a:path h="939421" w="814734">
                <a:moveTo>
                  <a:pt x="0" y="0"/>
                </a:moveTo>
                <a:lnTo>
                  <a:pt x="814734" y="0"/>
                </a:lnTo>
                <a:lnTo>
                  <a:pt x="814734" y="939421"/>
                </a:lnTo>
                <a:lnTo>
                  <a:pt x="0" y="9394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19799" y="2415578"/>
            <a:ext cx="1164840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Tech Stack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8743" y="7134225"/>
            <a:ext cx="336140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eact </a:t>
            </a:r>
          </a:p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Component-based UI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89489" y="7134225"/>
            <a:ext cx="336140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art.js</a:t>
            </a:r>
          </a:p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Chart Libraries  Beautiful data visualizations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41484" y="7134225"/>
            <a:ext cx="336140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loc</a:t>
            </a: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alStorage API  Client-side data storage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97855" y="7134225"/>
            <a:ext cx="336140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CSS3 </a:t>
            </a:r>
          </a:p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Modern styling and layouts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40414" y="2415315"/>
            <a:ext cx="1462910" cy="1459207"/>
            <a:chOff x="0" y="0"/>
            <a:chExt cx="406400" cy="405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0414" y="4303147"/>
            <a:ext cx="1462910" cy="1459207"/>
            <a:chOff x="0" y="0"/>
            <a:chExt cx="406400" cy="405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40414" y="6190979"/>
            <a:ext cx="1462910" cy="1459207"/>
            <a:chOff x="0" y="0"/>
            <a:chExt cx="406400" cy="405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09043" y="3964011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73904" y="2759257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3904" y="4647089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73904" y="6534921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2746" y="2453102"/>
            <a:ext cx="427593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b="true" sz="40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React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2746" y="4333506"/>
            <a:ext cx="740714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b="true" sz="40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Chart.js / React-chartjs-2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12746" y="6217077"/>
            <a:ext cx="766552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b="true" sz="40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localStorage API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12746" y="3085450"/>
            <a:ext cx="6355510" cy="71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7"/>
              </a:lnSpc>
            </a:pPr>
            <a:r>
              <a:rPr lang="en-US" sz="19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Built modular, reusable UI components that manage state and re-render on data changes.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2746" y="4964867"/>
            <a:ext cx="6907303" cy="71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7"/>
              </a:lnSpc>
            </a:pPr>
            <a:r>
              <a:rPr lang="en-US" sz="19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Created interactive line charts to visualize spending trends over time with weekly/monthly views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12746" y="6861114"/>
            <a:ext cx="7143785" cy="71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7"/>
              </a:lnSpc>
            </a:pPr>
            <a:r>
              <a:rPr lang="en-US" sz="19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Stored expenses client-side so data persists across browser sessions without a backend.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040414" y="8078811"/>
            <a:ext cx="1462910" cy="1459207"/>
            <a:chOff x="0" y="0"/>
            <a:chExt cx="406400" cy="4053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173904" y="8422753"/>
            <a:ext cx="11959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12746" y="8116598"/>
            <a:ext cx="427593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</a:pPr>
            <a:r>
              <a:rPr lang="en-US" b="true" sz="40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CSS3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2746" y="8748946"/>
            <a:ext cx="7143785" cy="71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7"/>
              </a:lnSpc>
            </a:pPr>
            <a:r>
              <a:rPr lang="en-US" sz="19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Styled the dashboard with Flexbox, Grid layouts, gradients, and responsive design for a professional UI.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86186" y="1066800"/>
            <a:ext cx="11648401" cy="92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</a:pPr>
            <a:r>
              <a:rPr lang="en-US" b="true" sz="63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Why These Technologies?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811" y="5813934"/>
            <a:ext cx="16438379" cy="2646600"/>
            <a:chOff x="0" y="0"/>
            <a:chExt cx="21917838" cy="3528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609046" cy="3528800"/>
              <a:chOff x="0" y="0"/>
              <a:chExt cx="1457517" cy="142510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457517" cy="1425109"/>
              </a:xfrm>
              <a:custGeom>
                <a:avLst/>
                <a:gdLst/>
                <a:ahLst/>
                <a:cxnLst/>
                <a:rect r="r" b="b" t="t" l="l"/>
                <a:pathLst>
                  <a:path h="1425109" w="1457517">
                    <a:moveTo>
                      <a:pt x="145870" y="0"/>
                    </a:moveTo>
                    <a:lnTo>
                      <a:pt x="1311647" y="0"/>
                    </a:lnTo>
                    <a:cubicBezTo>
                      <a:pt x="1350334" y="0"/>
                      <a:pt x="1387436" y="15368"/>
                      <a:pt x="1414792" y="42724"/>
                    </a:cubicBezTo>
                    <a:cubicBezTo>
                      <a:pt x="1442148" y="70080"/>
                      <a:pt x="1457517" y="107183"/>
                      <a:pt x="1457517" y="145870"/>
                    </a:cubicBezTo>
                    <a:lnTo>
                      <a:pt x="1457517" y="1279240"/>
                    </a:lnTo>
                    <a:cubicBezTo>
                      <a:pt x="1457517" y="1317927"/>
                      <a:pt x="1442148" y="1355029"/>
                      <a:pt x="1414792" y="1382385"/>
                    </a:cubicBezTo>
                    <a:cubicBezTo>
                      <a:pt x="1387436" y="1409741"/>
                      <a:pt x="1350334" y="1425109"/>
                      <a:pt x="1311647" y="1425109"/>
                    </a:cubicBezTo>
                    <a:lnTo>
                      <a:pt x="145870" y="1425109"/>
                    </a:lnTo>
                    <a:cubicBezTo>
                      <a:pt x="107183" y="1425109"/>
                      <a:pt x="70080" y="1409741"/>
                      <a:pt x="42724" y="1382385"/>
                    </a:cubicBezTo>
                    <a:cubicBezTo>
                      <a:pt x="15368" y="1355029"/>
                      <a:pt x="0" y="1317927"/>
                      <a:pt x="0" y="1279240"/>
                    </a:cubicBezTo>
                    <a:lnTo>
                      <a:pt x="0" y="145870"/>
                    </a:lnTo>
                    <a:cubicBezTo>
                      <a:pt x="0" y="107183"/>
                      <a:pt x="15368" y="70080"/>
                      <a:pt x="42724" y="42724"/>
                    </a:cubicBezTo>
                    <a:cubicBezTo>
                      <a:pt x="70080" y="15368"/>
                      <a:pt x="107183" y="0"/>
                      <a:pt x="145870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457517" cy="1463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69433" y="732265"/>
              <a:ext cx="3309621" cy="2117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55"/>
                </a:lnSpc>
              </a:pPr>
              <a:r>
                <a:rPr lang="en-US" sz="2055">
                  <a:solidFill>
                    <a:srgbClr val="1A1A1A"/>
                  </a:solidFill>
                  <a:latin typeface="Telegraf"/>
                  <a:ea typeface="Telegraf"/>
                  <a:cs typeface="Telegraf"/>
                  <a:sym typeface="Telegraf"/>
                </a:rPr>
                <a:t>Managed multiple React states (expenses, filters, theme, profile) with useState and useEffect.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4577198" y="0"/>
              <a:ext cx="3609046" cy="3528800"/>
              <a:chOff x="0" y="0"/>
              <a:chExt cx="1457517" cy="142510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457517" cy="1425109"/>
              </a:xfrm>
              <a:custGeom>
                <a:avLst/>
                <a:gdLst/>
                <a:ahLst/>
                <a:cxnLst/>
                <a:rect r="r" b="b" t="t" l="l"/>
                <a:pathLst>
                  <a:path h="1425109" w="1457517">
                    <a:moveTo>
                      <a:pt x="145870" y="0"/>
                    </a:moveTo>
                    <a:lnTo>
                      <a:pt x="1311647" y="0"/>
                    </a:lnTo>
                    <a:cubicBezTo>
                      <a:pt x="1350334" y="0"/>
                      <a:pt x="1387436" y="15368"/>
                      <a:pt x="1414792" y="42724"/>
                    </a:cubicBezTo>
                    <a:cubicBezTo>
                      <a:pt x="1442148" y="70080"/>
                      <a:pt x="1457517" y="107183"/>
                      <a:pt x="1457517" y="145870"/>
                    </a:cubicBezTo>
                    <a:lnTo>
                      <a:pt x="1457517" y="1279240"/>
                    </a:lnTo>
                    <a:cubicBezTo>
                      <a:pt x="1457517" y="1317927"/>
                      <a:pt x="1442148" y="1355029"/>
                      <a:pt x="1414792" y="1382385"/>
                    </a:cubicBezTo>
                    <a:cubicBezTo>
                      <a:pt x="1387436" y="1409741"/>
                      <a:pt x="1350334" y="1425109"/>
                      <a:pt x="1311647" y="1425109"/>
                    </a:cubicBezTo>
                    <a:lnTo>
                      <a:pt x="145870" y="1425109"/>
                    </a:lnTo>
                    <a:cubicBezTo>
                      <a:pt x="107183" y="1425109"/>
                      <a:pt x="70080" y="1409741"/>
                      <a:pt x="42724" y="1382385"/>
                    </a:cubicBezTo>
                    <a:cubicBezTo>
                      <a:pt x="15368" y="1355029"/>
                      <a:pt x="0" y="1317927"/>
                      <a:pt x="0" y="1279240"/>
                    </a:cubicBezTo>
                    <a:lnTo>
                      <a:pt x="0" y="145870"/>
                    </a:lnTo>
                    <a:cubicBezTo>
                      <a:pt x="0" y="107183"/>
                      <a:pt x="15368" y="70080"/>
                      <a:pt x="42724" y="42724"/>
                    </a:cubicBezTo>
                    <a:cubicBezTo>
                      <a:pt x="70080" y="15368"/>
                      <a:pt x="107183" y="0"/>
                      <a:pt x="145870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457517" cy="1463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803466" y="916719"/>
              <a:ext cx="3156511" cy="1774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5"/>
                </a:lnSpc>
              </a:pPr>
              <a:r>
                <a:rPr lang="en-US" sz="2055">
                  <a:solidFill>
                    <a:srgbClr val="1A1A1A"/>
                  </a:solidFill>
                  <a:latin typeface="Telegraf"/>
                  <a:ea typeface="Telegraf"/>
                  <a:cs typeface="Telegraf"/>
                  <a:sym typeface="Telegraf"/>
                </a:rPr>
                <a:t>Added persistent expense storage using localStorage with a dummy data fallback.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9154396" y="0"/>
              <a:ext cx="3609046" cy="3528800"/>
              <a:chOff x="0" y="0"/>
              <a:chExt cx="1457517" cy="142510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57517" cy="1425109"/>
              </a:xfrm>
              <a:custGeom>
                <a:avLst/>
                <a:gdLst/>
                <a:ahLst/>
                <a:cxnLst/>
                <a:rect r="r" b="b" t="t" l="l"/>
                <a:pathLst>
                  <a:path h="1425109" w="1457517">
                    <a:moveTo>
                      <a:pt x="145870" y="0"/>
                    </a:moveTo>
                    <a:lnTo>
                      <a:pt x="1311647" y="0"/>
                    </a:lnTo>
                    <a:cubicBezTo>
                      <a:pt x="1350334" y="0"/>
                      <a:pt x="1387436" y="15368"/>
                      <a:pt x="1414792" y="42724"/>
                    </a:cubicBezTo>
                    <a:cubicBezTo>
                      <a:pt x="1442148" y="70080"/>
                      <a:pt x="1457517" y="107183"/>
                      <a:pt x="1457517" y="145870"/>
                    </a:cubicBezTo>
                    <a:lnTo>
                      <a:pt x="1457517" y="1279240"/>
                    </a:lnTo>
                    <a:cubicBezTo>
                      <a:pt x="1457517" y="1317927"/>
                      <a:pt x="1442148" y="1355029"/>
                      <a:pt x="1414792" y="1382385"/>
                    </a:cubicBezTo>
                    <a:cubicBezTo>
                      <a:pt x="1387436" y="1409741"/>
                      <a:pt x="1350334" y="1425109"/>
                      <a:pt x="1311647" y="1425109"/>
                    </a:cubicBezTo>
                    <a:lnTo>
                      <a:pt x="145870" y="1425109"/>
                    </a:lnTo>
                    <a:cubicBezTo>
                      <a:pt x="107183" y="1425109"/>
                      <a:pt x="70080" y="1409741"/>
                      <a:pt x="42724" y="1382385"/>
                    </a:cubicBezTo>
                    <a:cubicBezTo>
                      <a:pt x="15368" y="1355029"/>
                      <a:pt x="0" y="1317927"/>
                      <a:pt x="0" y="1279240"/>
                    </a:cubicBezTo>
                    <a:lnTo>
                      <a:pt x="0" y="145870"/>
                    </a:lnTo>
                    <a:cubicBezTo>
                      <a:pt x="0" y="107183"/>
                      <a:pt x="15368" y="70080"/>
                      <a:pt x="42724" y="42724"/>
                    </a:cubicBezTo>
                    <a:cubicBezTo>
                      <a:pt x="70080" y="15368"/>
                      <a:pt x="107183" y="0"/>
                      <a:pt x="145870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457517" cy="1463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9485767" y="1031469"/>
              <a:ext cx="2946304" cy="1774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5"/>
                </a:lnSpc>
              </a:pPr>
              <a:r>
                <a:rPr lang="en-US" sz="2055">
                  <a:solidFill>
                    <a:srgbClr val="1A1A1A"/>
                  </a:solidFill>
                  <a:latin typeface="Telegraf"/>
                  <a:ea typeface="Telegraf"/>
                  <a:cs typeface="Telegraf"/>
                  <a:sym typeface="Telegraf"/>
                </a:rPr>
                <a:t>Built year, month, and category filters that work together smoothly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3731594" y="0"/>
              <a:ext cx="3609046" cy="3528800"/>
              <a:chOff x="0" y="0"/>
              <a:chExt cx="1457517" cy="142510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57517" cy="1425109"/>
              </a:xfrm>
              <a:custGeom>
                <a:avLst/>
                <a:gdLst/>
                <a:ahLst/>
                <a:cxnLst/>
                <a:rect r="r" b="b" t="t" l="l"/>
                <a:pathLst>
                  <a:path h="1425109" w="1457517">
                    <a:moveTo>
                      <a:pt x="145870" y="0"/>
                    </a:moveTo>
                    <a:lnTo>
                      <a:pt x="1311647" y="0"/>
                    </a:lnTo>
                    <a:cubicBezTo>
                      <a:pt x="1350334" y="0"/>
                      <a:pt x="1387436" y="15368"/>
                      <a:pt x="1414792" y="42724"/>
                    </a:cubicBezTo>
                    <a:cubicBezTo>
                      <a:pt x="1442148" y="70080"/>
                      <a:pt x="1457517" y="107183"/>
                      <a:pt x="1457517" y="145870"/>
                    </a:cubicBezTo>
                    <a:lnTo>
                      <a:pt x="1457517" y="1279240"/>
                    </a:lnTo>
                    <a:cubicBezTo>
                      <a:pt x="1457517" y="1317927"/>
                      <a:pt x="1442148" y="1355029"/>
                      <a:pt x="1414792" y="1382385"/>
                    </a:cubicBezTo>
                    <a:cubicBezTo>
                      <a:pt x="1387436" y="1409741"/>
                      <a:pt x="1350334" y="1425109"/>
                      <a:pt x="1311647" y="1425109"/>
                    </a:cubicBezTo>
                    <a:lnTo>
                      <a:pt x="145870" y="1425109"/>
                    </a:lnTo>
                    <a:cubicBezTo>
                      <a:pt x="107183" y="1425109"/>
                      <a:pt x="70080" y="1409741"/>
                      <a:pt x="42724" y="1382385"/>
                    </a:cubicBezTo>
                    <a:cubicBezTo>
                      <a:pt x="15368" y="1355029"/>
                      <a:pt x="0" y="1317927"/>
                      <a:pt x="0" y="1279240"/>
                    </a:cubicBezTo>
                    <a:lnTo>
                      <a:pt x="0" y="145870"/>
                    </a:lnTo>
                    <a:cubicBezTo>
                      <a:pt x="0" y="107183"/>
                      <a:pt x="15368" y="70080"/>
                      <a:pt x="42724" y="42724"/>
                    </a:cubicBezTo>
                    <a:cubicBezTo>
                      <a:pt x="70080" y="15368"/>
                      <a:pt x="107183" y="0"/>
                      <a:pt x="145870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457517" cy="1463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4062965" y="1053317"/>
              <a:ext cx="2946304" cy="1431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5"/>
                </a:lnSpc>
              </a:pPr>
              <a:r>
                <a:rPr lang="en-US" sz="2055">
                  <a:solidFill>
                    <a:srgbClr val="1A1A1A"/>
                  </a:solidFill>
                  <a:latin typeface="Telegraf"/>
                  <a:ea typeface="Telegraf"/>
                  <a:cs typeface="Telegraf"/>
                  <a:sym typeface="Telegraf"/>
                </a:rPr>
                <a:t>Used Chart.js to show weekly and monthly spending trends.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8308792" y="0"/>
              <a:ext cx="3609046" cy="3528800"/>
              <a:chOff x="0" y="0"/>
              <a:chExt cx="1457517" cy="142510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57517" cy="1425109"/>
              </a:xfrm>
              <a:custGeom>
                <a:avLst/>
                <a:gdLst/>
                <a:ahLst/>
                <a:cxnLst/>
                <a:rect r="r" b="b" t="t" l="l"/>
                <a:pathLst>
                  <a:path h="1425109" w="1457517">
                    <a:moveTo>
                      <a:pt x="145870" y="0"/>
                    </a:moveTo>
                    <a:lnTo>
                      <a:pt x="1311647" y="0"/>
                    </a:lnTo>
                    <a:cubicBezTo>
                      <a:pt x="1350334" y="0"/>
                      <a:pt x="1387436" y="15368"/>
                      <a:pt x="1414792" y="42724"/>
                    </a:cubicBezTo>
                    <a:cubicBezTo>
                      <a:pt x="1442148" y="70080"/>
                      <a:pt x="1457517" y="107183"/>
                      <a:pt x="1457517" y="145870"/>
                    </a:cubicBezTo>
                    <a:lnTo>
                      <a:pt x="1457517" y="1279240"/>
                    </a:lnTo>
                    <a:cubicBezTo>
                      <a:pt x="1457517" y="1317927"/>
                      <a:pt x="1442148" y="1355029"/>
                      <a:pt x="1414792" y="1382385"/>
                    </a:cubicBezTo>
                    <a:cubicBezTo>
                      <a:pt x="1387436" y="1409741"/>
                      <a:pt x="1350334" y="1425109"/>
                      <a:pt x="1311647" y="1425109"/>
                    </a:cubicBezTo>
                    <a:lnTo>
                      <a:pt x="145870" y="1425109"/>
                    </a:lnTo>
                    <a:cubicBezTo>
                      <a:pt x="107183" y="1425109"/>
                      <a:pt x="70080" y="1409741"/>
                      <a:pt x="42724" y="1382385"/>
                    </a:cubicBezTo>
                    <a:cubicBezTo>
                      <a:pt x="15368" y="1355029"/>
                      <a:pt x="0" y="1317927"/>
                      <a:pt x="0" y="1279240"/>
                    </a:cubicBezTo>
                    <a:lnTo>
                      <a:pt x="0" y="145870"/>
                    </a:lnTo>
                    <a:cubicBezTo>
                      <a:pt x="0" y="107183"/>
                      <a:pt x="15368" y="70080"/>
                      <a:pt x="42724" y="42724"/>
                    </a:cubicBezTo>
                    <a:cubicBezTo>
                      <a:pt x="70080" y="15368"/>
                      <a:pt x="107183" y="0"/>
                      <a:pt x="145870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57517" cy="1463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640163" y="710417"/>
              <a:ext cx="2946304" cy="2117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55"/>
                </a:lnSpc>
              </a:pPr>
              <a:r>
                <a:rPr lang="en-US" sz="2055">
                  <a:solidFill>
                    <a:srgbClr val="1A1A1A"/>
                  </a:solidFill>
                  <a:latin typeface="Telegraf"/>
                  <a:ea typeface="Telegraf"/>
                  <a:cs typeface="Telegraf"/>
                  <a:sym typeface="Telegraf"/>
                </a:rPr>
                <a:t>Designed a responsive dashboard with sidebar navigation and light/dark themes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23564" y="728152"/>
            <a:ext cx="12640872" cy="4219273"/>
            <a:chOff x="0" y="0"/>
            <a:chExt cx="16854496" cy="562569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4701378" y="873696"/>
              <a:ext cx="12153118" cy="3825754"/>
              <a:chOff x="0" y="0"/>
              <a:chExt cx="2400616" cy="75570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400616" cy="755705"/>
              </a:xfrm>
              <a:custGeom>
                <a:avLst/>
                <a:gdLst/>
                <a:ahLst/>
                <a:cxnLst/>
                <a:rect r="r" b="b" t="t" l="l"/>
                <a:pathLst>
                  <a:path h="755705" w="2400616">
                    <a:moveTo>
                      <a:pt x="43318" y="0"/>
                    </a:moveTo>
                    <a:lnTo>
                      <a:pt x="2357298" y="0"/>
                    </a:lnTo>
                    <a:cubicBezTo>
                      <a:pt x="2381222" y="0"/>
                      <a:pt x="2400616" y="19394"/>
                      <a:pt x="2400616" y="43318"/>
                    </a:cubicBezTo>
                    <a:lnTo>
                      <a:pt x="2400616" y="712386"/>
                    </a:lnTo>
                    <a:cubicBezTo>
                      <a:pt x="2400616" y="736310"/>
                      <a:pt x="2381222" y="755705"/>
                      <a:pt x="2357298" y="755705"/>
                    </a:cubicBezTo>
                    <a:lnTo>
                      <a:pt x="43318" y="755705"/>
                    </a:lnTo>
                    <a:cubicBezTo>
                      <a:pt x="19394" y="755705"/>
                      <a:pt x="0" y="736310"/>
                      <a:pt x="0" y="712386"/>
                    </a:cubicBezTo>
                    <a:lnTo>
                      <a:pt x="0" y="43318"/>
                    </a:lnTo>
                    <a:cubicBezTo>
                      <a:pt x="0" y="19394"/>
                      <a:pt x="19394" y="0"/>
                      <a:pt x="43318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400616" cy="7938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63612" cy="5625697"/>
            </a:xfrm>
            <a:custGeom>
              <a:avLst/>
              <a:gdLst/>
              <a:ahLst/>
              <a:cxnLst/>
              <a:rect r="r" b="b" t="t" l="l"/>
              <a:pathLst>
                <a:path h="5625697" w="7463612">
                  <a:moveTo>
                    <a:pt x="0" y="0"/>
                  </a:moveTo>
                  <a:lnTo>
                    <a:pt x="7463612" y="0"/>
                  </a:lnTo>
                  <a:lnTo>
                    <a:pt x="7463612" y="5625697"/>
                  </a:lnTo>
                  <a:lnTo>
                    <a:pt x="0" y="5625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7463612" y="2061432"/>
              <a:ext cx="7779822" cy="1559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000"/>
                </a:lnSpc>
              </a:pPr>
              <a:r>
                <a:rPr lang="en-US" b="true" sz="8000">
                  <a:solidFill>
                    <a:srgbClr val="1E3A8A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Challeng</a:t>
              </a:r>
              <a:r>
                <a:rPr lang="en-US" b="true" sz="8000">
                  <a:solidFill>
                    <a:srgbClr val="1E3A8A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93687" y="3201428"/>
            <a:ext cx="3824241" cy="5005551"/>
          </a:xfrm>
          <a:custGeom>
            <a:avLst/>
            <a:gdLst/>
            <a:ahLst/>
            <a:cxnLst/>
            <a:rect r="r" b="b" t="t" l="l"/>
            <a:pathLst>
              <a:path h="5005551" w="3824241">
                <a:moveTo>
                  <a:pt x="0" y="0"/>
                </a:moveTo>
                <a:lnTo>
                  <a:pt x="3824241" y="0"/>
                </a:lnTo>
                <a:lnTo>
                  <a:pt x="3824241" y="5005552"/>
                </a:lnTo>
                <a:lnTo>
                  <a:pt x="0" y="5005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53899" y="3558123"/>
            <a:ext cx="8258478" cy="499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059" indent="-236530" lvl="1">
              <a:lnSpc>
                <a:spcPts val="3067"/>
              </a:lnSpc>
              <a:buFont typeface="Arial"/>
              <a:buChar char="•"/>
            </a:pPr>
            <a:r>
              <a:rPr lang="en-US" sz="21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Applied React Hooks to build a real SpendSmart expense tracker.​</a:t>
            </a:r>
          </a:p>
          <a:p>
            <a:pPr algn="just" marL="473059" indent="-236530" lvl="1">
              <a:lnSpc>
                <a:spcPts val="3067"/>
              </a:lnSpc>
              <a:buFont typeface="Arial"/>
              <a:buChar char="•"/>
            </a:pPr>
            <a:r>
              <a:rPr lang="en-US" sz="21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Designed reusable components to keep the dashboard UI clean and scalable.​</a:t>
            </a:r>
          </a:p>
          <a:p>
            <a:pPr algn="just" marL="473059" indent="-236530" lvl="1">
              <a:lnSpc>
                <a:spcPts val="3067"/>
              </a:lnSpc>
              <a:buFont typeface="Arial"/>
              <a:buChar char="•"/>
            </a:pPr>
            <a:r>
              <a:rPr lang="en-US" sz="21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Analyzed my own dummy expense data with filters and charts.​</a:t>
            </a:r>
          </a:p>
          <a:p>
            <a:pPr algn="just" marL="473059" indent="-236530" lvl="1">
              <a:lnSpc>
                <a:spcPts val="3067"/>
              </a:lnSpc>
              <a:buFont typeface="Arial"/>
              <a:buChar char="•"/>
            </a:pPr>
            <a:r>
              <a:rPr lang="en-US" sz="21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Used localStorage so my expenses persist like a real user app.​</a:t>
            </a:r>
          </a:p>
          <a:p>
            <a:pPr algn="just" marL="473059" indent="-236530" lvl="1">
              <a:lnSpc>
                <a:spcPts val="3067"/>
              </a:lnSpc>
              <a:buFont typeface="Arial"/>
              <a:buChar char="•"/>
            </a:pPr>
            <a:r>
              <a:rPr lang="en-US" sz="21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Styled the dashboard to look modern and responsive on any screen.​</a:t>
            </a:r>
          </a:p>
          <a:p>
            <a:pPr algn="just" marL="473059" indent="-236530" lvl="1">
              <a:lnSpc>
                <a:spcPts val="3067"/>
              </a:lnSpc>
              <a:buFont typeface="Arial"/>
              <a:buChar char="•"/>
            </a:pPr>
            <a:r>
              <a:rPr lang="en-US" sz="219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Got better at debugging by tracing data flow in DevTools</a:t>
            </a:r>
          </a:p>
          <a:p>
            <a:pPr algn="l" marL="0" indent="0" lvl="0">
              <a:lnSpc>
                <a:spcPts val="334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383138" y="1428260"/>
            <a:ext cx="3667108" cy="92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</a:pPr>
            <a:r>
              <a:rPr lang="en-US" b="true" sz="63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Learning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3618178"/>
            <a:chOff x="0" y="0"/>
            <a:chExt cx="4274726" cy="952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952936"/>
            </a:xfrm>
            <a:custGeom>
              <a:avLst/>
              <a:gdLst/>
              <a:ahLst/>
              <a:cxnLst/>
              <a:rect r="r" b="b" t="t" l="l"/>
              <a:pathLst>
                <a:path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7220" y="5443121"/>
            <a:ext cx="3372968" cy="3060445"/>
            <a:chOff x="0" y="0"/>
            <a:chExt cx="1816235" cy="1647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46880" y="5443121"/>
            <a:ext cx="3372968" cy="3060445"/>
            <a:chOff x="0" y="0"/>
            <a:chExt cx="1816235" cy="1647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0948" y="5443121"/>
            <a:ext cx="3372968" cy="3060445"/>
            <a:chOff x="0" y="0"/>
            <a:chExt cx="1816235" cy="1647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01141" y="5426037"/>
            <a:ext cx="3372968" cy="3060445"/>
            <a:chOff x="0" y="0"/>
            <a:chExt cx="1816235" cy="1647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48970" y="7748832"/>
            <a:ext cx="1509468" cy="150946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8630" y="7748832"/>
            <a:ext cx="1509468" cy="150946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02698" y="7748832"/>
            <a:ext cx="1509468" cy="150946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26766" y="7748832"/>
            <a:ext cx="1509468" cy="150946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04269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3858438" y="8503566"/>
            <a:ext cx="2520192" cy="0"/>
          </a:xfrm>
          <a:prstGeom prst="line">
            <a:avLst/>
          </a:prstGeom>
          <a:ln cap="flat" w="7620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rot="0">
            <a:off x="7888098" y="8465466"/>
            <a:ext cx="2520192" cy="0"/>
          </a:xfrm>
          <a:prstGeom prst="line">
            <a:avLst/>
          </a:prstGeom>
          <a:ln cap="flat" w="7620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rot="0">
            <a:off x="11912166" y="8465466"/>
            <a:ext cx="2520192" cy="0"/>
          </a:xfrm>
          <a:prstGeom prst="line">
            <a:avLst/>
          </a:prstGeom>
          <a:ln cap="flat" w="7620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4708583" y="8189216"/>
            <a:ext cx="1056948" cy="594533"/>
          </a:xfrm>
          <a:custGeom>
            <a:avLst/>
            <a:gdLst/>
            <a:ahLst/>
            <a:cxnLst/>
            <a:rect r="r" b="b" t="t" l="l"/>
            <a:pathLst>
              <a:path h="594533" w="1056948">
                <a:moveTo>
                  <a:pt x="0" y="0"/>
                </a:moveTo>
                <a:lnTo>
                  <a:pt x="1056948" y="0"/>
                </a:lnTo>
                <a:lnTo>
                  <a:pt x="1056948" y="594533"/>
                </a:lnTo>
                <a:lnTo>
                  <a:pt x="0" y="59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616828" y="8155239"/>
            <a:ext cx="1081208" cy="662486"/>
          </a:xfrm>
          <a:custGeom>
            <a:avLst/>
            <a:gdLst/>
            <a:ahLst/>
            <a:cxnLst/>
            <a:rect r="r" b="b" t="t" l="l"/>
            <a:pathLst>
              <a:path h="662486" w="1081208">
                <a:moveTo>
                  <a:pt x="0" y="0"/>
                </a:moveTo>
                <a:lnTo>
                  <a:pt x="1081208" y="0"/>
                </a:lnTo>
                <a:lnTo>
                  <a:pt x="1081208" y="662486"/>
                </a:lnTo>
                <a:lnTo>
                  <a:pt x="0" y="6624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796115" y="7978453"/>
            <a:ext cx="609891" cy="1007328"/>
          </a:xfrm>
          <a:custGeom>
            <a:avLst/>
            <a:gdLst/>
            <a:ahLst/>
            <a:cxnLst/>
            <a:rect r="r" b="b" t="t" l="l"/>
            <a:pathLst>
              <a:path h="1007328" w="609891">
                <a:moveTo>
                  <a:pt x="0" y="0"/>
                </a:moveTo>
                <a:lnTo>
                  <a:pt x="609891" y="0"/>
                </a:lnTo>
                <a:lnTo>
                  <a:pt x="609891" y="1007328"/>
                </a:lnTo>
                <a:lnTo>
                  <a:pt x="0" y="10073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6814970" y="8041517"/>
            <a:ext cx="636788" cy="924099"/>
          </a:xfrm>
          <a:custGeom>
            <a:avLst/>
            <a:gdLst/>
            <a:ahLst/>
            <a:cxnLst/>
            <a:rect r="r" b="b" t="t" l="l"/>
            <a:pathLst>
              <a:path h="924099" w="636788">
                <a:moveTo>
                  <a:pt x="0" y="0"/>
                </a:moveTo>
                <a:lnTo>
                  <a:pt x="636788" y="0"/>
                </a:lnTo>
                <a:lnTo>
                  <a:pt x="636788" y="924099"/>
                </a:lnTo>
                <a:lnTo>
                  <a:pt x="0" y="9240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208249" y="5885526"/>
            <a:ext cx="1785624" cy="134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</a:pPr>
            <a:r>
              <a:rPr lang="en-US" sz="2528">
                <a:solidFill>
                  <a:srgbClr val="1A1A1A"/>
                </a:solidFill>
                <a:latin typeface="Telegraf"/>
                <a:ea typeface="Telegraf"/>
                <a:cs typeface="Telegraf"/>
                <a:sym typeface="Telegraf"/>
              </a:rPr>
              <a:t>Mobile app with React Native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19799" y="2241512"/>
            <a:ext cx="1164840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>
                <a:solidFill>
                  <a:srgbClr val="1E3A8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Future Roadmap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53753" y="6483622"/>
            <a:ext cx="2966607" cy="66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2"/>
              </a:lnSpc>
            </a:pPr>
            <a:r>
              <a:rPr lang="en-US" sz="3600">
                <a:solidFill>
                  <a:srgbClr val="1A1A1A"/>
                </a:solidFill>
                <a:latin typeface="Telegraf"/>
                <a:ea typeface="Telegraf"/>
                <a:cs typeface="Telegraf"/>
                <a:sym typeface="Telegraf"/>
              </a:rPr>
              <a:t>Launch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61451" y="5885526"/>
            <a:ext cx="2711059" cy="134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</a:pPr>
            <a:r>
              <a:rPr lang="en-US" sz="2528">
                <a:solidFill>
                  <a:srgbClr val="1A1A1A"/>
                </a:solidFill>
                <a:latin typeface="Telegraf"/>
                <a:ea typeface="Telegraf"/>
                <a:cs typeface="Telegraf"/>
                <a:sym typeface="Telegraf"/>
              </a:rPr>
              <a:t>Budget categories and spending goals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83683" y="5885526"/>
            <a:ext cx="2947497" cy="134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9"/>
              </a:lnSpc>
            </a:pPr>
            <a:r>
              <a:rPr lang="en-US" sz="2528">
                <a:solidFill>
                  <a:srgbClr val="1A1A1A"/>
                </a:solidFill>
                <a:latin typeface="Telegraf"/>
                <a:ea typeface="Telegraf"/>
                <a:cs typeface="Telegraf"/>
                <a:sym typeface="Telegraf"/>
              </a:rPr>
              <a:t>Cloud sync with Firebase or Supabase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3967" y="2544439"/>
            <a:ext cx="15700066" cy="294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b="true" sz="16243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061094"/>
            <a:ext cx="1623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042698"/>
                </a:solidFill>
                <a:latin typeface="Poppins"/>
                <a:ea typeface="Poppins"/>
                <a:cs typeface="Poppins"/>
                <a:sym typeface="Poppins"/>
              </a:rPr>
              <a:t>FOR YOUR TIME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808227" y="7322577"/>
            <a:ext cx="6671547" cy="1619480"/>
            <a:chOff x="0" y="0"/>
            <a:chExt cx="8895395" cy="215930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895395" cy="2159306"/>
              <a:chOff x="0" y="0"/>
              <a:chExt cx="1757115" cy="42653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57115" cy="426530"/>
              </a:xfrm>
              <a:custGeom>
                <a:avLst/>
                <a:gdLst/>
                <a:ahLst/>
                <a:cxnLst/>
                <a:rect r="r" b="b" t="t" l="l"/>
                <a:pathLst>
                  <a:path h="426530" w="1757115">
                    <a:moveTo>
                      <a:pt x="59182" y="0"/>
                    </a:moveTo>
                    <a:lnTo>
                      <a:pt x="1697933" y="0"/>
                    </a:lnTo>
                    <a:cubicBezTo>
                      <a:pt x="1713629" y="0"/>
                      <a:pt x="1728682" y="6235"/>
                      <a:pt x="1739781" y="17334"/>
                    </a:cubicBezTo>
                    <a:cubicBezTo>
                      <a:pt x="1750880" y="28433"/>
                      <a:pt x="1757115" y="43486"/>
                      <a:pt x="1757115" y="59182"/>
                    </a:cubicBezTo>
                    <a:lnTo>
                      <a:pt x="1757115" y="367347"/>
                    </a:lnTo>
                    <a:cubicBezTo>
                      <a:pt x="1757115" y="400033"/>
                      <a:pt x="1730618" y="426530"/>
                      <a:pt x="1697933" y="426530"/>
                    </a:cubicBezTo>
                    <a:lnTo>
                      <a:pt x="59182" y="426530"/>
                    </a:lnTo>
                    <a:cubicBezTo>
                      <a:pt x="43486" y="426530"/>
                      <a:pt x="28433" y="420294"/>
                      <a:pt x="17334" y="409195"/>
                    </a:cubicBezTo>
                    <a:cubicBezTo>
                      <a:pt x="6235" y="398097"/>
                      <a:pt x="0" y="383043"/>
                      <a:pt x="0" y="367347"/>
                    </a:cubicBezTo>
                    <a:lnTo>
                      <a:pt x="0" y="59182"/>
                    </a:lnTo>
                    <a:cubicBezTo>
                      <a:pt x="0" y="26497"/>
                      <a:pt x="26497" y="0"/>
                      <a:pt x="59182" y="0"/>
                    </a:cubicBezTo>
                    <a:close/>
                  </a:path>
                </a:pathLst>
              </a:custGeom>
              <a:solidFill>
                <a:srgbClr val="042698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757115" cy="4646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877872" y="312274"/>
              <a:ext cx="1880382" cy="1568683"/>
            </a:xfrm>
            <a:custGeom>
              <a:avLst/>
              <a:gdLst/>
              <a:ahLst/>
              <a:cxnLst/>
              <a:rect r="r" b="b" t="t" l="l"/>
              <a:pathLst>
                <a:path h="1568683" w="1880382">
                  <a:moveTo>
                    <a:pt x="0" y="0"/>
                  </a:moveTo>
                  <a:lnTo>
                    <a:pt x="1880382" y="0"/>
                  </a:lnTo>
                  <a:lnTo>
                    <a:pt x="1880382" y="1568683"/>
                  </a:lnTo>
                  <a:lnTo>
                    <a:pt x="0" y="1568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7261" t="-81863" r="-79483" b="-12589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256870" y="539086"/>
              <a:ext cx="4596912" cy="981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4200">
                  <a:solidFill>
                    <a:srgbClr val="F5F5F5"/>
                  </a:solidFill>
                  <a:latin typeface="Telegraf"/>
                  <a:ea typeface="Telegraf"/>
                  <a:cs typeface="Telegraf"/>
                  <a:sym typeface="Telegraf"/>
                </a:rPr>
                <a:t>SpendSmart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DAG6R7P2jRk</dc:identifier>
  <dcterms:modified xsi:type="dcterms:W3CDTF">2011-08-01T06:04:30Z</dcterms:modified>
  <cp:revision>1</cp:revision>
  <dc:title>SS1.pptx</dc:title>
</cp:coreProperties>
</file>